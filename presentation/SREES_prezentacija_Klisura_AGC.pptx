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5191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Dobar dan. Predstavit ću projekat iz predmeta Strukture i režimi rada elektroenergetskih sistema: dinamički konvertor sa AGC regulacijom — alat koji statičke podatke elektroenergetske mreže automatski pretvara u dinamičke modele sa sekundarnom regulacijom frekvencije, spremne za simulaciju u dTwin okruženju.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Cilj projekta: MATPOWER fajlovi poput case9 ili case300 su statički — imaju topologiju, opterećenja i proizvodnju, ali ne kažu ništa o ponašanju sistema u vremenu. Moj konvertor iz tih podataka automatski generiše kompletan dinamički model. Ključna funkcija po specifikaciji teme: kroz XML fajl navodim po broju koje generatore želim sa AGC regulacijom, a svi ostali dobijaju standardni model. Sve je realizovano kao C++ plugin sa natID grafičkim interfejsom, dvije niti i natID matricama, i testirano na sva četiri zadana testna slučaja.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Šta je uopšte AGC? Frekvencija je mjerilo balansa aktivne snage: kad potrošnja naglo poraste, rotori generatora usporavaju i frekvencija pada. Sistem se brani u tri nivoa: prvo inercija rotora, zatim primarna droop regulacija koja je brza ali ostavlja trajno odstupanje, i konačno sekundarna regulacija — AGC — koja integralnim djelovanjem eliminiše to trajno odstupanje i vraća frekvenciju tačno na 50 herca. Upravo taj treći nivo je tema mog projekta.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Matematički model: svaki generator je klasični model — EMS iza tranzijentne reaktanse — sa njihajnom jednačinom za ugao i brzinu rotora. AGC generatori dobijaju tri dodatne jednačine: integrator sekundarne regulacije, governor sa droop članom, i limiter koji modeluje fizičke granice snage agregata. Standardni generatori imaju konstantnu mehaničku snagu. Mreža je opisana polarnim bilansima aktivne i reaktivne snage preko admitansne matrice.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Ovako te jednačine izgledaju kao regulaciona petlja, dijagram rađen u OpenDraw alatu. Ulaz je odstupanje brzine. Gornja grana je primarna droop regulacija — brza, ali ostavlja trajnu grešku. Donja grana je AGC integrator koji tu grešku akumulira i eliminiše. Zbir sa referentnom snagom prolazi kroz dinamiku turbine sa vremenskom konstantom Tgov, pa kroz limiter, i kao mehanička snaga ulazi u njihajnu jednačinu. Brzina rotora se vraća na ulaz i zatvara petlju. U stacionarnom stanju integrator drži frekvenciju tačno na 50 herca.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Arhitektura rješenja: slijeva ulaze XML konfiguracija — kojom biram AGC generatore — i CSV fajlovi sa stvarnim MATPOWER podacima; case9 je ugrađen direktno. Centralni dio je plugin, dinamička biblioteka koju dTwin učitava, sa natID grafičkim interfejsom. Konverzija se po zahtjevu teme izvršava u jednoj niti, dok druga nit u realnom vremenu prati napredak preko atomarnog brojača. Izlaz su dva fajla: dmodl sa kompletnim dinamičkim modelom i vmodl sa definicijama grafika — oba preuzima dTwin, riješi model i nacrta rezultate.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Konverzija ide u pet koraka. Prvo parsiranje: XML određuje tipove generatora, CSV čitač učitava mrežu i konvertuje megavate u per-unit. Drugo, admitansna matrica se gradi natID dense matricama — obavezni zahtjev teme — a u jednačine ulaze samo nenulti elementi. Treće i najvažnije: inicijalizacijski podmodel prvo riješi tokove snaga i iz njih izračuna tačne početne uslove svake mašine, pa simulacija kreće iz ravnotežne tačke. Četvrto, generisanje jednačina je potpuno automatsko i generičko — od 26 jednačina za case9 do preko 700 za case300. I peto, uz model se automatski generišu i definicije grafika.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 stvari čine rješenje numerički robusnim. Prvo — inicijalizacija iz tokova snaga: bez nje bi model krenuo iz neravnotežne tačke, dobio ogroman vještački debalans snage i divergirao u prvim milisekundama; sa njom je jedini poremećaj onaj koji sama zadam. Drugo — preračun tranzijentne reaktanse na sistemsku bazu: velike mašine, poput one od skoro dvije hiljade megavata u case300, dobijaju srazmjerno manju reaktansu, inače matematički ne bi mogle raditi. I treće — kontrolisani poremećaj: model kreće sa deset posto većim opterećenjem na jednoj sabirnici, i upravo taj skok AGC mora kompenzovati.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Prvi rezultat, case 9. Na grafiku frekvencije se vidi cijela priča: skok opterećenja obara frekvenciju, droop zaustavlja propad, a onda integrator sekundarne regulacije — AGC — vraća frekvenciju tačno na 50 herca, bez trajnog odstupanja. To je definicija uspješne sekundarne regulacije. Uglovi rotora se nakon kratkog tranzijenta stabilizuju u novoj radnoj tački.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30 je direktna demonstracija ključnog zahtjeva teme: u XML-u sam navela generatore 2 i 22 kao AGC, a preostala tri — 13, 23 i 27 — automatski su dobili standardni model bez regulacije. Na graficima se vidi da sistem ostaje stabilan, a AGC mašine preuzimaju kompenzaciju poremećaja za cijeli sistem, uključujući i generatore koji sami nemaju regulaciju.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118 pokazuje nešto fizikalno zanimljivo: isti relativni poremećaj izaziva propad od svega 0,13 herca — deset puta manji nego kod case 9. Veći sistem ima veću ekvivalentnu inerciju i krutost, što je tačno u skladu s teorijom. Zanimljiv detalj: u stvarnom case 118 referentna sabirnica nije broj 1 nego broj 69 — konvertor je to automatski prepoznao, što potvrđuje da je implementacija potpuno generička.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300 je najveći i najzahtjevniji slučaj. Konverzija je potpuno uspješna — generiše se ispravan model sa preko sedamsto jednačina. Simulacija, međutim, otkriva granicu klasičnog modela generatora: stvarna case 300 mreža ima ekstreman naponski profil, od 0,80 do 1,09 per-unit, pa pojedine mašine iz tokova snaga izlaze u podpobuđenom režimu, na samoj granici statičke stabilnosti, i tokom simulacije gube sinhronizam — što se vidi na slici. Vjerno modelovanje takvih radnih tačaka zahtijeva regulatore pobude i limitere, što prevazilazi okvir teme. Bitno je: ograničenje je svojstvo klasičnog modela, ne implementacije — konvertor je svoj posao obavio u potpunosti.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 zaključim: svi zahtjevi teme su ispunjeni — plugin, GUI, XML konfiguracija, dvije niti, natID matrice i sva četiri testna slučaja. Ispravnost AGC regulacije je potvrđena: na tri sistema frekvencija se vraća tačno na 50 herca. Ključni doprinos numeričkoj robusnosti je inicijalizacijski podmodel sa tokovima snaga, a cijela arhitektura je generička — isti kod radi nad mrežom od 9 i od 300 sabirnica, bez ijednog posebnog slučaja.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Hvala na pažnji. Kompletan kod, dokumentacija i testni podaci dostupni su na GitHub repozitoriju. Rado ću odgovoriti na pitanja.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28963"/>
            <a:ext cx="7863840" cy="3142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Dinamički konvertor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8136343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AGC — Automatic Generation Control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48967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UNIVERZITET U SARAJEVU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ELEKTROTEHNIČKI FAKULTET</a:t>
            </a:r>
          </a:p>
          <a:p>
            <a:pPr marL="0" indent="0" algn="ctr">
              <a:buNone/>
            </a:pP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Strukture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režimi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elektroenergetskih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4131756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Studentica</a:t>
            </a: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0" indent="0" algn="ctr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Ismihana Klisura</a:t>
            </a:r>
          </a:p>
          <a:p>
            <a:pPr marL="0" indent="0" algn="ctr">
              <a:buNone/>
            </a:pP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Juli, 2026.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Cilj projekta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MATPOWER testni slučajevi (case9–case300) sadrže samo statičke podatke — topologiju mreže, opterećenja i proizvodnju. Oni opisuju JEDNU radnu tačku, ali ne i kako se sistem ponaša u vremenu nakon poremećaja.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Zadatak: </a:t>
            </a: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razviti konvertor koji iz tih statičkih podataka automatski generiše kompletan dinamički model — svakom generatoru dodijeliti model, mrežu opisati jednačinama, i sve inicijalizovati tako da je simulacija odmah izvodljiva.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278892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8803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Ključna</a:t>
            </a:r>
            <a:r>
              <a:rPr lang="en-US" sz="14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b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funkcija</a:t>
            </a:r>
            <a:r>
              <a:rPr lang="en-US" sz="14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kroz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XML konfiguraciju korisnik po broju navodi generatore koji dobijaju AGC model </a:t>
            </a:r>
            <a:r>
              <a:rPr lang="en-US" sz="14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regulacije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svi ostali dobijaju standardni model bez regulacije.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7200" y="3977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Realizacija: C++ plugin (dll) · natID GUI · konverzija u jednom threadu, progress indikator u drugom · natID matrice · testirano na case9, case30, case118 i case300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Šta je AGC i zašto je potreban?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Frekvencija = mjerilo balansa snage. </a:t>
            </a: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 sinhroni generatori rotiraju sinhrono sa mrežom (50 Hz). Kada potrošnja naglo poraste, nedostajuća energija se u prvom trenutku uzima iz kinetičke energije rotora — rotori usporavaju i frekvencija pada.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AGC (Automatic Generation Control) </a:t>
            </a: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automatska sekundarna regulacija frekvencije: sistem koji kontinuirano mjeri odstupanje frekvencije i integralnim djelovanjem pomjera zadanu snagu odabranih agregata sve dok se frekvencija ne vrati tačno na nominalnu vrijednost.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29718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EFF4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1089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INERCIJA</a:t>
            </a:r>
            <a:endParaRPr lang="en-US" sz="1400" dirty="0"/>
          </a:p>
          <a:p>
            <a:pPr marL="0" indent="0">
              <a:buNone/>
            </a:pPr>
            <a:r>
              <a:rPr lang="en-US" sz="11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prve ms–s</a:t>
            </a:r>
            <a:endParaRPr lang="en-US" sz="14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kinetička energija rotora usporava propad (H)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29718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EFF4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31089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PRIMARNA</a:t>
            </a:r>
            <a:endParaRPr lang="en-US" sz="1400" dirty="0"/>
          </a:p>
          <a:p>
            <a:pPr marL="0" indent="0">
              <a:buNone/>
            </a:pPr>
            <a:r>
              <a:rPr lang="en-US" sz="11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sekunde</a:t>
            </a:r>
            <a:endParaRPr lang="en-US" sz="14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droop: brza proporcionalna reakcija, ostaje trajna greška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29718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31089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SEKUNDARNA = AGC</a:t>
            </a:r>
            <a:endParaRPr lang="en-US" sz="1400" dirty="0"/>
          </a:p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– min</a:t>
            </a:r>
            <a:endParaRPr lang="en-US" sz="14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integrator eliminiše grešku → tačno 50 Hz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nivoa odbrane frekvencije — tema ovog projekta je treći nivo.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Matematički model generatora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325880"/>
          </a:xfrm>
          <a:prstGeom prst="roundRect">
            <a:avLst>
              <a:gd name="adj" fmla="val 5517"/>
            </a:avLst>
          </a:prstGeom>
          <a:solidFill>
            <a:srgbClr val="EFF4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024128"/>
            <a:ext cx="7772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Klasični model + njihajna jednačina (svi generatori):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δ' = (ω − 1)·</a:t>
            </a:r>
            <a:r>
              <a:rPr lang="en-US" sz="1400" dirty="0" err="1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ωs</a:t>
            </a:r>
            <a:r>
              <a:rPr lang="en-US" sz="14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br>
              <a:rPr lang="en-US" sz="14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r>
              <a:rPr lang="en-US" sz="14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ω' = [Pm − Pe − D(ω−1)] · ωs / 2H         </a:t>
            </a:r>
            <a:br>
              <a:rPr lang="en-US" sz="14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r>
              <a:rPr lang="en-US" sz="14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 = (E'·V / Xd')·sin(δ − θ)</a:t>
            </a:r>
            <a:endParaRPr lang="en-US" sz="1400" dirty="0"/>
          </a:p>
          <a:p>
            <a:pPr marL="0" indent="0">
              <a:buNone/>
            </a:pPr>
            <a:r>
              <a:rPr lang="en-US" sz="11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E' iza tranzijentne reaktanse Xd'; H = inercija [s], D = prigušenje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423160"/>
            <a:ext cx="822960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542032"/>
            <a:ext cx="7772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AGC </a:t>
            </a:r>
            <a:r>
              <a:rPr lang="en-US" sz="1400" b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generatori</a:t>
            </a: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b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400" dirty="0"/>
          </a:p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xI' = Ki·(1 − ω)                              ← sekundarna (integrator)</a:t>
            </a:r>
            <a:endParaRPr lang="en-US" sz="1400" dirty="0"/>
          </a:p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Pm' = [Pref + Kp·(1−ω) + xI − Pm] / Tgov      ← governor + droop (primarna)</a:t>
            </a:r>
            <a:endParaRPr lang="en-US" sz="1400" dirty="0"/>
          </a:p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Pm_lim = lim(Pm, Pmin, Pmax)                  ← fizičke granice agregata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Standardni generatori: </a:t>
            </a: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= Pref = const — bez regulacije, samo inercija i prigušenje. </a:t>
            </a:r>
            <a:b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50" dirty="0" err="1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Mreža</a:t>
            </a: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polarni bilansi P i Q na svakoj sabirnici preko Ybus matrice (G + jB).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Blok šema AGC regulacije</a:t>
            </a:r>
            <a:endParaRPr lang="en-US" sz="2700" dirty="0"/>
          </a:p>
        </p:txBody>
      </p:sp>
      <p:pic>
        <p:nvPicPr>
          <p:cNvPr id="3" name="Image 0" descr="/home/claude/diagrams/agc_bl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868680"/>
            <a:ext cx="7863840" cy="3566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Svaki blok šeme = jedan član jednačina sa prethodnog slajda. Povratna sprega ω zatvara petlju </a:t>
            </a:r>
            <a:r>
              <a:rPr lang="en-US" sz="1300" dirty="0" err="1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kroz</a:t>
            </a: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jednačinu</a:t>
            </a: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njihanja</a:t>
            </a: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Arhitektura konvertora</a:t>
            </a:r>
            <a:endParaRPr lang="en-US" sz="2700" dirty="0"/>
          </a:p>
        </p:txBody>
      </p:sp>
      <p:pic>
        <p:nvPicPr>
          <p:cNvPr id="3" name="Image 0" descr="/home/claude/diagrams/arhitek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868680"/>
            <a:ext cx="7863840" cy="3566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(agc.dll) sa natID GUI · nit 1: kompletna konverzija · nit 2: real-time progress · izlaz .dmodl (model) + .vmodl (grafike)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Kako konvertor radi — 5 koraka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014984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14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896112"/>
            <a:ext cx="7680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Parsiranje ulaza — </a:t>
            </a: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(natID DOM parser) određuje tip svakog generatora; CSV čitač učitava sabirnice i grane, MW → p.u. (Sb = 100 MVA); za case300 renumeracija sabirnica 1–300.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810512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691640"/>
            <a:ext cx="7680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Ybus — natID dense matrice — </a:t>
            </a: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Admitansna matrica G + jB gradi se kao dense::DblMatrix iz R, X i Bsh svake grane; u jednačine ulaze samo nenulti elementi (iskorištena rijetkost mreže).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606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2487168"/>
            <a:ext cx="7680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Inicijalizacija (SubModel) — </a:t>
            </a: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Prije dinamike rješavaju se tokovi snaga, pa se za svaku mašinu računaju TAČNI početni uslovi: E' = V + jXd'·I, δ₀ = ugao te EMS. Simulacija kreće iz ravnoteže.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40156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401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1560" y="3282696"/>
            <a:ext cx="7680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Generisanje jednačina — </a:t>
            </a: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 svaki generator ODE (njihajna + AGC ako je odabran), za svaku sabirnicu 2 NLE bilansa — sve automatski, za proizvoljnu mrežu (case9: 26, case300: 716 jednačina).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57200" y="4197096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197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1560" y="4078224"/>
            <a:ext cx="7680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Grafike (.vmodl) — </a:t>
            </a: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Automatski se generišu tri grafika: frekvencija sistema, uglovi rotora i AGC regulacija (Pm, xI) — ograničeno na 6 krivih radi preglednosti velikih mreža.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Šta rješenje čini robusnim?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170432"/>
          </a:xfrm>
          <a:prstGeom prst="roundRect">
            <a:avLst>
              <a:gd name="adj" fmla="val 6250"/>
            </a:avLst>
          </a:prstGeom>
          <a:solidFill>
            <a:srgbClr val="E8F3E8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0058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Inicijalizacija iz tokova snaga</a:t>
            </a:r>
            <a:endParaRPr lang="en-US" sz="1450" dirty="0"/>
          </a:p>
          <a:p>
            <a:pPr marL="0" indent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nje: neuravnoteženi početni uslovi = ogroman vještački debalans snage u t=0 → divergencija u prvim milisekundama. Sa njom: jedini poremećaj je onaj namjerno zadan.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2212848"/>
            <a:ext cx="8229600" cy="1170432"/>
          </a:xfrm>
          <a:prstGeom prst="roundRect">
            <a:avLst>
              <a:gd name="adj" fmla="val 6250"/>
            </a:avLst>
          </a:prstGeom>
          <a:solidFill>
            <a:srgbClr val="EFF4FC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304288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Skaliranje Xd' na sistemsku bazu</a:t>
            </a:r>
            <a:endParaRPr lang="en-US" sz="1450" dirty="0"/>
          </a:p>
          <a:p>
            <a:pPr marL="0" indent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Xd'(sys) = Xd' / max(1, Pg). Mašina od 1973 MW (case300) na bazi 100 MVA inače ne bi mogla postojati — prešla bi granicu prenosa snage (δ−θ &gt; 90°).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3511296"/>
            <a:ext cx="8229600" cy="1170432"/>
          </a:xfrm>
          <a:prstGeom prst="roundRect">
            <a:avLst>
              <a:gd name="adj" fmla="val 6250"/>
            </a:avLst>
          </a:prstGeom>
          <a:solidFill>
            <a:srgbClr val="FDF3E3"/>
          </a:solidFill>
          <a:ln w="15875">
            <a:solidFill>
              <a:srgbClr val="B08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602736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B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Kontrolisani test poremećaj</a:t>
            </a:r>
            <a:endParaRPr lang="en-US" sz="1450" dirty="0"/>
          </a:p>
          <a:p>
            <a:pPr marL="0" indent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Inicijalizacija sa nominalnim opterećenjem, glavni model sa +10% na prvoj opterećenoj sabirnici → skok u t=0 na koji AGC mora reagovati. To je demonstracija regulacije.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13B42DF-DBF5-5B0B-70CE-A9AE55F2D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676" y="917004"/>
            <a:ext cx="3700874" cy="3469512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23774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Rezultati — IEEE Case 9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generatora, oba PV sa AGC (sabirnice 2 i 3)  ·  8 diferencijalnih + 18 algebarskih jednačina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517136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Nakon skoka opterećenja frekvencija propada, primarna regulacija zaustavlja propad, a integrator sekundarne je vraća TAČNO na 50 Hz — bez trajnog odstupanja. Uglovi rotora stabilni u novoj radnoj tački.</a:t>
            </a:r>
            <a:endParaRPr lang="en-US" sz="13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10E36D4-E46C-55F4-8BC3-B7DE8EA7EC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0118" y="917004"/>
            <a:ext cx="4418794" cy="34695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Rezultati — IEEE Case 30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576467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generatora: 2 i 22 sa AGC, a 13, 23 i 27 standardni  ·  14 dif. + 60 alg. jednačina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570666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Direktna demonstracija zahtjeva teme: XML-om odabrani generatori dobijaju AGC, svi ostali standardni model. AGC mašine preuzimaju kompenzaciju poremećaja za cijeli sistem.</a:t>
            </a:r>
            <a:endParaRPr lang="en-US" sz="13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A8384CA-66E5-4F11-19EA-8CAE4DD35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588" y="942227"/>
            <a:ext cx="3860464" cy="342388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E9A580B-64E3-54FA-6523-0F7CDCB7A0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108" y="942227"/>
            <a:ext cx="4320691" cy="342388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Rezultati — IEEE Case 118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 sabirnica, 18 generatora (AGC: 10 i 12), slack = 69  ·  40 dif. + 236 alg. jednačina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638456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 relativni poremećaj → znatno manji propad nego kod malih mreža: veći sistem = veća ekvivalentna inercija i krutost. Konvertor automatski prepoznaje slack (69, ne 1) — dokaz generičnosti.</a:t>
            </a:r>
            <a:endParaRPr lang="en-US" sz="13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5FB801A-4EB6-6F06-B589-D9DB3398F0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649" y="921420"/>
            <a:ext cx="3884686" cy="3582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704059D-9D7E-77A3-81D1-6ACE8F0830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1886" y="921421"/>
            <a:ext cx="4459963" cy="358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300 — granica klasičnog modela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97475" y="923544"/>
            <a:ext cx="3684850" cy="1691640"/>
          </a:xfrm>
          <a:prstGeom prst="roundRect">
            <a:avLst>
              <a:gd name="adj" fmla="val 4324"/>
            </a:avLst>
          </a:prstGeom>
          <a:solidFill>
            <a:srgbClr val="E8F3E8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2220" y="1024128"/>
            <a:ext cx="348368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KONVERZIJA USPJEŠNA</a:t>
            </a:r>
            <a:endParaRPr lang="en-US" sz="1450" dirty="0"/>
          </a:p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sabirnica · 411 grana · 56 generatora; model sa 116 dif. + 600 alg. jednačina, strukturno i numerički ispravan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99897" y="2752344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DF3E3"/>
          </a:solidFill>
          <a:ln w="19050">
            <a:solidFill>
              <a:srgbClr val="B08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0981" y="2866644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B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SIMULACIJA — OGRANIČENJE</a:t>
            </a:r>
            <a:endParaRPr lang="en-US" sz="1450" dirty="0"/>
          </a:p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Ekstreman naponski profil (0.80–1.09 p.u.) → pojedine mašine iz tokova snaga izlaze podpobuđene, na granici statičke stabilnosti, i gube sinhronizam. Vjeran model traži AVR + limitere pobude (izvan okvira teme).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663440" y="914400"/>
            <a:ext cx="4023360" cy="3794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D51E1B9-545C-8AE0-AD1B-C737CEED0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3409" y="914400"/>
            <a:ext cx="5040040" cy="407007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Zaključak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161288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161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✓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88720" y="9601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 zahtjevi teme ispunjeni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plugin (dll) · natID GUI · XML konfiguracija generatora · dvije niti · natID matrice · testirano na sva 4 slučaja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130552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✓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188720" y="1929384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AGC regulacija potvrđena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Case 9, 30 i 118 frekvencija se nakon skoka opterećenja vraća tačno na 50 Hz — integrator eliminiše trajno odstupanje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3099816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✓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88720" y="2898648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Ključni doprinos: inicijalizacija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flow SubModel obezbjeđuje start iz tačne ravnotežne tačke — presudno za numeričku stabilnost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406908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✓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188720" y="3867912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Generička arhitektura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 algoritmi rade nad proizvoljnom mrežom (9–300 sabirnica), bez posebnih slučajeva po testnom sistemu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Hvala na pažnji!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27889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Pitanja?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3977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github.com/ismihana123/SREES_2026_Klisura_AGC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2319</Words>
  <Application>Microsoft Office PowerPoint</Application>
  <PresentationFormat>On-screen Show (16:9)</PresentationFormat>
  <Paragraphs>119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AGC - Dinamicki konvertor</dc:title>
  <dc:subject>PptxGenJS Presentation</dc:subject>
  <dc:creator>Ismihana Klisura</dc:creator>
  <cp:lastModifiedBy>Ismihana Klisura</cp:lastModifiedBy>
  <cp:revision>2</cp:revision>
  <dcterms:created xsi:type="dcterms:W3CDTF">2026-07-05T10:39:25Z</dcterms:created>
  <dcterms:modified xsi:type="dcterms:W3CDTF">2026-07-05T15:09:44Z</dcterms:modified>
</cp:coreProperties>
</file>